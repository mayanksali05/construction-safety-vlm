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ac74ed4-be22-a77c-2e2c-73f1fdbee6a4}">
          <p14:sldIdLst>
            <p14:sldId id="256"/>
            <p14:sldId id="257"/>
          </p14:sldIdLst>
        </p14:section>
        <p14:section name="Problem Statement" id="{2a2fc876-adf0-086b-b67e-ca416c228d1e}">
          <p14:sldIdLst>
            <p14:sldId id="258"/>
            <p14:sldId id="259"/>
            <p14:sldId id="260"/>
          </p14:sldIdLst>
        </p14:section>
        <p14:section name="Literature Review" id="{1af70c36-c702-e40a-640c-3811179f4b00}">
          <p14:sldIdLst>
            <p14:sldId id="261"/>
            <p14:sldId id="262"/>
            <p14:sldId id="263"/>
            <p14:sldId id="264"/>
          </p14:sldIdLst>
        </p14:section>
        <p14:section name="Dataset" id="{85bfe66e-82d9-3aa8-8692-a9920b33c4b4}">
          <p14:sldIdLst>
            <p14:sldId id="265"/>
            <p14:sldId id="266"/>
          </p14:sldIdLst>
        </p14:section>
        <p14:section name="Work Done So Far" id="{a7fbd998-3778-5674-2be7-4776d817c8f1}">
          <p14:sldIdLst>
            <p14:sldId id="267"/>
            <p14:sldId id="268"/>
            <p14:sldId id="269"/>
            <p14:sldId id="270"/>
          </p14:sldIdLst>
        </p14:section>
        <p14:section name="Novelty and Plan of Work" id="{9d5c4fc8-3c20-e2e7-8d39-7e935bcc16d8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377440" y="2377440"/>
            <a:ext cx="89611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Development of a Domain-Specific Vision–Language Model for Construction Site Safety Inspection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Major Project — Literature Review and Progress</a:t>
            </a:r>
            <a:endParaRPr lang="en-US" sz="1800" dirty="0"/>
          </a:p>
        </p:txBody>
      </p:sp>
      <p:sp>
        <p:nvSpPr>
          <p:cNvPr id="4" name="Presenter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Presented by: Mayank Sali  |  M.Tech Data Science  |  Institute of Technology, Nirma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Contents</a:t>
            </a:r>
            <a:endParaRPr lang="en-US" sz="3000" dirty="0"/>
          </a:p>
        </p:txBody>
      </p:sp>
      <p:sp>
        <p:nvSpPr>
          <p:cNvPr id="3" name="Contents list"/>
          <p:cNvSpPr txBox="1"/>
          <p:nvPr/>
        </p:nvSpPr>
        <p:spPr>
          <a:xfrm>
            <a:off x="777240" y="1463040"/>
            <a:ext cx="7315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so far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and plan of work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945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377440" y="23774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Hazardous Is Construction?</a:t>
            </a:r>
            <a:endParaRPr lang="en-US" sz="3000" dirty="0"/>
          </a:p>
        </p:txBody>
      </p:sp>
      <p:sp>
        <p:nvSpPr>
          <p:cNvPr id="3" name="Global"/>
          <p:cNvSpPr/>
          <p:nvPr/>
        </p:nvSpPr>
        <p:spPr>
          <a:xfrm>
            <a:off x="640080" y="1325880"/>
            <a:ext cx="3520440" cy="45720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Global label"/>
          <p:cNvSpPr txBox="1"/>
          <p:nvPr/>
        </p:nvSpPr>
        <p:spPr>
          <a:xfrm>
            <a:off x="86868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Global</a:t>
            </a:r>
            <a:endParaRPr lang="en-US" sz="1400" dirty="0"/>
          </a:p>
        </p:txBody>
      </p:sp>
      <p:sp>
        <p:nvSpPr>
          <p:cNvPr id="5" name="Global stat 1"/>
          <p:cNvSpPr txBox="1"/>
          <p:nvPr/>
        </p:nvSpPr>
        <p:spPr>
          <a:xfrm>
            <a:off x="86868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 million</a:t>
            </a:r>
            <a:endParaRPr lang="en-US" sz="2800" dirty="0"/>
          </a:p>
        </p:txBody>
      </p:sp>
      <p:sp>
        <p:nvSpPr>
          <p:cNvPr id="6" name="Global text 1"/>
          <p:cNvSpPr txBox="1"/>
          <p:nvPr/>
        </p:nvSpPr>
        <p:spPr>
          <a:xfrm>
            <a:off x="86868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work-related deaths a year; 330,000 of them from accidents at work</a:t>
            </a:r>
            <a:endParaRPr lang="en-US" sz="1400" dirty="0"/>
          </a:p>
        </p:txBody>
      </p:sp>
      <p:sp>
        <p:nvSpPr>
          <p:cNvPr id="7" name="Global source 1"/>
          <p:cNvSpPr txBox="1"/>
          <p:nvPr/>
        </p:nvSpPr>
        <p:spPr>
          <a:xfrm>
            <a:off x="86868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ILO, Nov 2023</a:t>
            </a:r>
            <a:endParaRPr lang="en-US" sz="1100" dirty="0"/>
          </a:p>
        </p:txBody>
      </p:sp>
      <p:sp>
        <p:nvSpPr>
          <p:cNvPr id="8" name="Global stat 2"/>
          <p:cNvSpPr txBox="1"/>
          <p:nvPr/>
        </p:nvSpPr>
        <p:spPr>
          <a:xfrm>
            <a:off x="868680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108,000+</a:t>
            </a:r>
            <a:endParaRPr lang="en-US" sz="2800" dirty="0"/>
          </a:p>
        </p:txBody>
      </p:sp>
      <p:sp>
        <p:nvSpPr>
          <p:cNvPr id="9" name="Global text 2"/>
          <p:cNvSpPr txBox="1"/>
          <p:nvPr/>
        </p:nvSpPr>
        <p:spPr>
          <a:xfrm>
            <a:off x="868680" y="4480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workers killed on site a year, about 30% of all fatal work injuries</a:t>
            </a:r>
            <a:endParaRPr lang="en-US" sz="1400" dirty="0"/>
          </a:p>
        </p:txBody>
      </p:sp>
      <p:sp>
        <p:nvSpPr>
          <p:cNvPr id="10" name="Global source 2"/>
          <p:cNvSpPr txBox="1"/>
          <p:nvPr/>
        </p:nvSpPr>
        <p:spPr>
          <a:xfrm>
            <a:off x="868680" y="5257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ILO, 2015 (latest construction-specific ILO figure)</a:t>
            </a:r>
            <a:endParaRPr lang="en-US" sz="1100" dirty="0"/>
          </a:p>
        </p:txBody>
      </p:sp>
      <p:sp>
        <p:nvSpPr>
          <p:cNvPr id="11" name="National"/>
          <p:cNvSpPr/>
          <p:nvPr/>
        </p:nvSpPr>
        <p:spPr>
          <a:xfrm>
            <a:off x="4315968" y="1325880"/>
            <a:ext cx="3520440" cy="45720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National label"/>
          <p:cNvSpPr txBox="1"/>
          <p:nvPr/>
        </p:nvSpPr>
        <p:spPr>
          <a:xfrm>
            <a:off x="4544568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Latest national reports</a:t>
            </a:r>
            <a:endParaRPr lang="en-US" sz="1400" dirty="0"/>
          </a:p>
        </p:txBody>
      </p:sp>
      <p:sp>
        <p:nvSpPr>
          <p:cNvPr id="13" name="National stat 1"/>
          <p:cNvSpPr txBox="1"/>
          <p:nvPr/>
        </p:nvSpPr>
        <p:spPr>
          <a:xfrm>
            <a:off x="4544568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1,034</a:t>
            </a:r>
            <a:endParaRPr lang="en-US" sz="2800" dirty="0"/>
          </a:p>
        </p:txBody>
      </p:sp>
      <p:sp>
        <p:nvSpPr>
          <p:cNvPr id="14" name="National text 1"/>
          <p:cNvSpPr txBox="1"/>
          <p:nvPr/>
        </p:nvSpPr>
        <p:spPr>
          <a:xfrm>
            <a:off x="4544568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deaths in the USA in 2024, a rate of 9.2 per 100,000 full-time workers</a:t>
            </a:r>
            <a:endParaRPr lang="en-US" sz="1400" dirty="0"/>
          </a:p>
        </p:txBody>
      </p:sp>
      <p:sp>
        <p:nvSpPr>
          <p:cNvPr id="15" name="National source 1"/>
          <p:cNvSpPr txBox="1"/>
          <p:nvPr/>
        </p:nvSpPr>
        <p:spPr>
          <a:xfrm>
            <a:off x="4544568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US BLS, CFOI, Feb 2026</a:t>
            </a:r>
            <a:endParaRPr lang="en-US" sz="1100" dirty="0"/>
          </a:p>
        </p:txBody>
      </p:sp>
      <p:sp>
        <p:nvSpPr>
          <p:cNvPr id="16" name="National stat 2"/>
          <p:cNvSpPr txBox="1"/>
          <p:nvPr/>
        </p:nvSpPr>
        <p:spPr>
          <a:xfrm>
            <a:off x="4544568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of 126</a:t>
            </a:r>
            <a:endParaRPr lang="en-US" sz="2800" dirty="0"/>
          </a:p>
        </p:txBody>
      </p:sp>
      <p:sp>
        <p:nvSpPr>
          <p:cNvPr id="17" name="National text 2"/>
          <p:cNvSpPr txBox="1"/>
          <p:nvPr/>
        </p:nvSpPr>
        <p:spPr>
          <a:xfrm>
            <a:off x="4544568" y="4480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deaths in Great Britain in 2025/26 were in construction (provisional)</a:t>
            </a:r>
            <a:endParaRPr lang="en-US" sz="1400" dirty="0"/>
          </a:p>
        </p:txBody>
      </p:sp>
      <p:sp>
        <p:nvSpPr>
          <p:cNvPr id="18" name="National source 2"/>
          <p:cNvSpPr txBox="1"/>
          <p:nvPr/>
        </p:nvSpPr>
        <p:spPr>
          <a:xfrm>
            <a:off x="4544568" y="5257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UK HSE, 2026</a:t>
            </a:r>
            <a:endParaRPr lang="en-US" sz="1100" dirty="0"/>
          </a:p>
        </p:txBody>
      </p:sp>
      <p:sp>
        <p:nvSpPr>
          <p:cNvPr id="19" name="India"/>
          <p:cNvSpPr/>
          <p:nvPr/>
        </p:nvSpPr>
        <p:spPr>
          <a:xfrm>
            <a:off x="8001000" y="1325880"/>
            <a:ext cx="3520440" cy="45720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India label"/>
          <p:cNvSpPr txBox="1"/>
          <p:nvPr/>
        </p:nvSpPr>
        <p:spPr>
          <a:xfrm>
            <a:off x="822960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India</a:t>
            </a:r>
            <a:endParaRPr lang="en-US" sz="1400" dirty="0"/>
          </a:p>
        </p:txBody>
      </p:sp>
      <p:sp>
        <p:nvSpPr>
          <p:cNvPr id="21" name="India stat 1"/>
          <p:cNvSpPr txBox="1"/>
          <p:nvPr/>
        </p:nvSpPr>
        <p:spPr>
          <a:xfrm>
            <a:off x="822960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≈48,000</a:t>
            </a:r>
            <a:endParaRPr lang="en-US" sz="2800" dirty="0"/>
          </a:p>
        </p:txBody>
      </p:sp>
      <p:sp>
        <p:nvSpPr>
          <p:cNvPr id="22" name="India text 1"/>
          <p:cNvSpPr txBox="1"/>
          <p:nvPr/>
        </p:nvSpPr>
        <p:spPr>
          <a:xfrm>
            <a:off x="822960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accident deaths a year; construction accounts for about 24%</a:t>
            </a:r>
            <a:endParaRPr lang="en-US" sz="1400" dirty="0"/>
          </a:p>
        </p:txBody>
      </p:sp>
      <p:sp>
        <p:nvSpPr>
          <p:cNvPr id="23" name="India source 1"/>
          <p:cNvSpPr txBox="1"/>
          <p:nvPr/>
        </p:nvSpPr>
        <p:spPr>
          <a:xfrm>
            <a:off x="822960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British Safety Council study, 2017</a:t>
            </a:r>
            <a:endParaRPr lang="en-US" sz="1100" dirty="0"/>
          </a:p>
        </p:txBody>
      </p:sp>
      <p:sp>
        <p:nvSpPr>
          <p:cNvPr id="24" name="India stat 2"/>
          <p:cNvSpPr txBox="1"/>
          <p:nvPr/>
        </p:nvSpPr>
        <p:spPr>
          <a:xfrm>
            <a:off x="8229600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11,614+</a:t>
            </a:r>
            <a:endParaRPr lang="en-US" sz="2800" dirty="0"/>
          </a:p>
        </p:txBody>
      </p:sp>
      <p:sp>
        <p:nvSpPr>
          <p:cNvPr id="25" name="India text 2"/>
          <p:cNvSpPr txBox="1"/>
          <p:nvPr/>
        </p:nvSpPr>
        <p:spPr>
          <a:xfrm>
            <a:off x="8229600" y="4480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deaths a year, a minimum estimate</a:t>
            </a:r>
            <a:endParaRPr lang="en-US" sz="1400" dirty="0"/>
          </a:p>
        </p:txBody>
      </p:sp>
      <p:sp>
        <p:nvSpPr>
          <p:cNvPr id="26" name="India source 2"/>
          <p:cNvSpPr txBox="1"/>
          <p:nvPr/>
        </p:nvSpPr>
        <p:spPr>
          <a:xfrm>
            <a:off x="8229600" y="5257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Patel &amp; Jha (2016), via British Safety Council, 2022</a:t>
            </a:r>
            <a:endParaRPr lang="en-US" sz="1100" dirty="0"/>
          </a:p>
        </p:txBody>
      </p:sp>
      <p:sp>
        <p:nvSpPr>
          <p:cNvPr id="27" name="Note"/>
          <p:cNvSpPr txBox="1"/>
          <p:nvPr/>
        </p:nvSpPr>
        <p:spPr>
          <a:xfrm>
            <a:off x="640080" y="6172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India publishes no official national series for construction deaths, so the India figures are research estimates.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3" name="Problem panel"/>
          <p:cNvSpPr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Problem text"/>
          <p:cNvSpPr txBox="1"/>
          <p:nvPr/>
        </p:nvSpPr>
        <p:spPr>
          <a:xfrm>
            <a:off x="868680" y="14630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systems either only detect objects without understanding the situation, or only describe the scene without knowing safety rules. General vision–language models also raise many false alarms on rare violations.</a:t>
            </a:r>
            <a:endParaRPr lang="en-US" sz="1600" dirty="0"/>
          </a:p>
        </p:txBody>
      </p:sp>
      <p:sp>
        <p:nvSpPr>
          <p:cNvPr id="5" name="Goal panel"/>
          <p:cNvSpPr/>
          <p:nvPr/>
        </p:nvSpPr>
        <p:spPr>
          <a:xfrm>
            <a:off x="640080" y="2834640"/>
            <a:ext cx="10881360" cy="21031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Goal text"/>
          <p:cNvSpPr txBox="1"/>
          <p:nvPr/>
        </p:nvSpPr>
        <p:spPr>
          <a:xfrm>
            <a:off x="868680" y="2971800"/>
            <a:ext cx="10424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vision–language model specially for construction safety, which looks at a site image and: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which safety rule is broken, with fewer false alarms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severity and a corrective action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each finding to the OSHA or Indian regulation it violates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945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377440" y="23774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Literature Review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Summary of the Reviewed Papers</a:t>
            </a:r>
            <a:endParaRPr lang="en-US" sz="3000" dirty="0"/>
          </a:p>
        </p:txBody>
      </p:sp>
      <p:graphicFrame>
        <p:nvGraphicFramePr>
          <p:cNvPr id="8" name="LR summ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291840"/>
                <a:gridCol w="1645920"/>
                <a:gridCol w="3474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 (as printed)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H. et al.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BLIP (pretrained) + AR headset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578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 accuracy 89.7%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 et al.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MiniGPT-4, fine-tuned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28% → 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Alshikhe et al. (2026)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+ YOLOv8 + BIM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94.3%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 (2026)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Qwen2.5-7B, LoRA fine-tuned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3,048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 F1 0.835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Hussain et al. (2026)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YOLOv12 + cloud LLM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11,508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97.9 / 97.5 / 98.9%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&amp; Zou (2026)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GPT-4V, GPT-4o, LLaVA (not trained)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10,013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rules: precision 2.7–5.3%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Sahraoui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Qwen2-VL-2B, Molmo-7B (not trained)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PPE precision 66.0%, recall 67.3%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Note"/>
          <p:cNvSpPr txBox="1"/>
          <p:nvPr/>
        </p:nvSpPr>
        <p:spPr>
          <a:xfrm>
            <a:off x="640080" y="6172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Wu et al. (2019) and Ling et al. (2025), in the earlier deck, are still to be checked against their PDFs. Chen &amp; Zou: GPT-4V figures, Table 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Prior Work on ConstructionSite 10k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Two studies have used this dataset; neither fine-tunes a model on it</a:t>
            </a:r>
            <a:endParaRPr lang="en-US" sz="1500" dirty="0"/>
          </a:p>
        </p:txBody>
      </p:sp>
      <p:sp>
        <p:nvSpPr>
          <p:cNvPr id="4" name="Prior panel 1"/>
          <p:cNvSpPr/>
          <p:nvPr/>
        </p:nvSpPr>
        <p:spPr>
          <a:xfrm>
            <a:off x="640080" y="1645920"/>
            <a:ext cx="5349240" cy="32004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Prior head 1"/>
          <p:cNvSpPr txBox="1"/>
          <p:nvPr/>
        </p:nvSpPr>
        <p:spPr>
          <a:xfrm>
            <a:off x="868680" y="17830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Chen &amp; Zou (2026)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Dataset paper, Data-Centric Engineering</a:t>
            </a:r>
            <a:endParaRPr lang="en-US" sz="1800" dirty="0"/>
          </a:p>
        </p:txBody>
      </p:sp>
      <p:sp>
        <p:nvSpPr>
          <p:cNvPr id="6" name="Prior points 1"/>
          <p:cNvSpPr txBox="1"/>
          <p:nvPr/>
        </p:nvSpPr>
        <p:spPr>
          <a:xfrm>
            <a:off x="868680" y="265176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10,013 images with captions, 4 safety rules and object boxes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GPT-4V, GPT-4o and LLaVA without training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 on PPE: precision 20.4%, recall 76.4%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recall, low precision: many false alarms</a:t>
            </a:r>
            <a:endParaRPr lang="en-US" sz="1500" dirty="0"/>
          </a:p>
        </p:txBody>
      </p:sp>
      <p:sp>
        <p:nvSpPr>
          <p:cNvPr id="7" name="Prior panel 2"/>
          <p:cNvSpPr/>
          <p:nvPr/>
        </p:nvSpPr>
        <p:spPr>
          <a:xfrm>
            <a:off x="6172200" y="1645920"/>
            <a:ext cx="5349240" cy="32004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Prior head 2"/>
          <p:cNvSpPr txBox="1"/>
          <p:nvPr/>
        </p:nvSpPr>
        <p:spPr>
          <a:xfrm>
            <a:off x="6400800" y="17830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Sahraoui (2025)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MSc thesis, University of Houston (arXiv 2511.15720)</a:t>
            </a:r>
            <a:endParaRPr lang="en-US" sz="1800" dirty="0"/>
          </a:p>
        </p:txBody>
      </p:sp>
      <p:sp>
        <p:nvSpPr>
          <p:cNvPr id="9" name="Prior points 2"/>
          <p:cNvSpPr txBox="1"/>
          <p:nvPr/>
        </p:nvSpPr>
        <p:spPr>
          <a:xfrm>
            <a:off x="6400800" y="265176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open models Qwen2-VL-2B and Molmo-7B, zero-shot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rule only, 100 images, short Yes/No prompts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Qwen2-VL-2B: precision 66.0%, recall 67.3%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and selection limit how far this generalises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Gaps Found in the Literature</a:t>
            </a:r>
            <a:endParaRPr lang="en-US" sz="3000" dirty="0"/>
          </a:p>
        </p:txBody>
      </p:sp>
      <p:sp>
        <p:nvSpPr>
          <p:cNvPr id="3" name="Gaps list"/>
          <p:cNvSpPr txBox="1"/>
          <p:nvPr/>
        </p:nvSpPr>
        <p:spPr>
          <a:xfrm>
            <a:off x="777240" y="1371600"/>
            <a:ext cx="10607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has been fine-tuned on the public ConstructionSite 10k benchmark; published results are for untrained models only.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stop at “hazard found” or a caption. No reviewed system gives the severity or the corrective action.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models catch most violations but raise many false alarms (high recall, low precision).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checking is limited to Chinese codes or a few OSHA rules. Indian regulations are not used in any reviewed paper.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construction data clearly helps (28% to 81% in Fan et al.), but only on small, private datasets.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945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377440" y="23774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Dataset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ConstructionSite 10k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Chen &amp; Zou (2026) · Hugging Face: LouisChen15/ConstructionSite · CC BY-NC-SA 4.0</a:t>
            </a:r>
            <a:endParaRPr lang="en-US" sz="1500" dirty="0"/>
          </a:p>
        </p:txBody>
      </p:sp>
      <p:sp>
        <p:nvSpPr>
          <p:cNvPr id="4" name="Dataset facts"/>
          <p:cNvSpPr txBox="1"/>
          <p:nvPr/>
        </p:nvSpPr>
        <p:spPr>
          <a:xfrm>
            <a:off x="777240" y="169164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10,013 site images, taken from MOCS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7,009 train / 3,004 test images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image: a caption, labels for 4 safety rules with a written reason and boxes, and object boxes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download; non-commercial use only</a:t>
            </a:r>
            <a:endParaRPr lang="en-US" sz="1600" dirty="0"/>
          </a:p>
        </p:txBody>
      </p:sp>
      <p:graphicFrame>
        <p:nvGraphicFramePr>
          <p:cNvPr id="12" name="Violation cou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91440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Basic PPE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Safety harness at height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Edge protection, deep excavation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Worker in excavator blind spot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Counts note"/>
          <p:cNvSpPr txBox="1"/>
          <p:nvPr/>
        </p:nvSpPr>
        <p:spPr>
          <a:xfrm>
            <a:off x="6126480" y="44348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Images with a violation of each rule. Violations are rare: rules 2 and 4 have fewer than 30 test images each.</a:t>
            </a:r>
            <a:endParaRPr lang="en-US" sz="1400" dirty="0"/>
          </a:p>
        </p:txBody>
      </p:sp>
      <p:sp>
        <p:nvSpPr>
          <p:cNvPr id="7" name="Note"/>
          <p:cNvSpPr txBox="1"/>
          <p:nvPr/>
        </p:nvSpPr>
        <p:spPr>
          <a:xfrm>
            <a:off x="640080" y="6172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Counts from the downloaded data. The paper lists 323 PPE test images; the download has 324.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945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377440" y="23774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Work Done So Far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Method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Five steps; step 1 is complete</a:t>
            </a:r>
            <a:endParaRPr lang="en-US" sz="1500" dirty="0"/>
          </a:p>
        </p:txBody>
      </p:sp>
      <p:sp>
        <p:nvSpPr>
          <p:cNvPr id="4" name="Step 1"/>
          <p:cNvSpPr/>
          <p:nvPr/>
        </p:nvSpPr>
        <p:spPr>
          <a:xfrm>
            <a:off x="640080" y="1691640"/>
            <a:ext cx="2029968" cy="2926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tep 1 number"/>
          <p:cNvSpPr txBox="1"/>
          <p:nvPr/>
        </p:nvSpPr>
        <p:spPr>
          <a:xfrm>
            <a:off x="82296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Step 1 head"/>
          <p:cNvSpPr txBox="1"/>
          <p:nvPr/>
        </p:nvSpPr>
        <p:spPr>
          <a:xfrm>
            <a:off x="822960" y="2514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Baseline</a:t>
            </a:r>
            <a:endParaRPr lang="en-US" sz="1700" dirty="0"/>
          </a:p>
        </p:txBody>
      </p:sp>
      <p:sp>
        <p:nvSpPr>
          <p:cNvPr id="7" name="Step 1 text"/>
          <p:cNvSpPr txBox="1"/>
          <p:nvPr/>
        </p:nvSpPr>
        <p:spPr>
          <a:xfrm>
            <a:off x="822960" y="29718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pretrained Qwen2-VL-2B on the full test set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2852928" y="1691640"/>
            <a:ext cx="2029968" cy="2926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Step 2 number"/>
          <p:cNvSpPr txBox="1"/>
          <p:nvPr/>
        </p:nvSpPr>
        <p:spPr>
          <a:xfrm>
            <a:off x="3035808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Step 2 head"/>
          <p:cNvSpPr txBox="1"/>
          <p:nvPr/>
        </p:nvSpPr>
        <p:spPr>
          <a:xfrm>
            <a:off x="3035808" y="2514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Fine-tune</a:t>
            </a:r>
            <a:endParaRPr lang="en-US" sz="1700" dirty="0"/>
          </a:p>
        </p:txBody>
      </p:sp>
      <p:sp>
        <p:nvSpPr>
          <p:cNvPr id="11" name="Step 2 text"/>
          <p:cNvSpPr txBox="1"/>
          <p:nvPr/>
        </p:nvSpPr>
        <p:spPr>
          <a:xfrm>
            <a:off x="3035808" y="29718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on the train split; precision, recall, F1 per rule</a:t>
            </a:r>
            <a:endParaRPr lang="en-US" sz="1400" dirty="0"/>
          </a:p>
        </p:txBody>
      </p:sp>
      <p:sp>
        <p:nvSpPr>
          <p:cNvPr id="12" name="Step 3"/>
          <p:cNvSpPr/>
          <p:nvPr/>
        </p:nvSpPr>
        <p:spPr>
          <a:xfrm>
            <a:off x="5065776" y="1691640"/>
            <a:ext cx="2029968" cy="2926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Step 3 number"/>
          <p:cNvSpPr txBox="1"/>
          <p:nvPr/>
        </p:nvSpPr>
        <p:spPr>
          <a:xfrm>
            <a:off x="5248656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Step 3 head"/>
          <p:cNvSpPr txBox="1"/>
          <p:nvPr/>
        </p:nvSpPr>
        <p:spPr>
          <a:xfrm>
            <a:off x="5248656" y="2514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Severity</a:t>
            </a:r>
            <a:endParaRPr lang="en-US" sz="1700" dirty="0"/>
          </a:p>
        </p:txBody>
      </p:sp>
      <p:sp>
        <p:nvSpPr>
          <p:cNvPr id="15" name="Step 3 text"/>
          <p:cNvSpPr txBox="1"/>
          <p:nvPr/>
        </p:nvSpPr>
        <p:spPr>
          <a:xfrm>
            <a:off x="5248656" y="29718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severity and corrective-action labels and retrain</a:t>
            </a:r>
            <a:endParaRPr lang="en-US" sz="1400" dirty="0"/>
          </a:p>
        </p:txBody>
      </p:sp>
      <p:sp>
        <p:nvSpPr>
          <p:cNvPr id="16" name="Step 4"/>
          <p:cNvSpPr/>
          <p:nvPr/>
        </p:nvSpPr>
        <p:spPr>
          <a:xfrm>
            <a:off x="7278624" y="1691640"/>
            <a:ext cx="2029968" cy="2926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7461504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Step 4 head"/>
          <p:cNvSpPr txBox="1"/>
          <p:nvPr/>
        </p:nvSpPr>
        <p:spPr>
          <a:xfrm>
            <a:off x="7461504" y="2514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Regulations</a:t>
            </a:r>
            <a:endParaRPr lang="en-US" sz="1700" dirty="0"/>
          </a:p>
        </p:txBody>
      </p:sp>
      <p:sp>
        <p:nvSpPr>
          <p:cNvPr id="19" name="Step 4 text"/>
          <p:cNvSpPr txBox="1"/>
          <p:nvPr/>
        </p:nvSpPr>
        <p:spPr>
          <a:xfrm>
            <a:off x="7461504" y="29718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findings to OSHA 29 CFR 1926 and Indian OSH Code / BOCW</a:t>
            </a:r>
            <a:endParaRPr lang="en-US" sz="1400" dirty="0"/>
          </a:p>
        </p:txBody>
      </p:sp>
      <p:sp>
        <p:nvSpPr>
          <p:cNvPr id="20" name="Step 5"/>
          <p:cNvSpPr/>
          <p:nvPr/>
        </p:nvSpPr>
        <p:spPr>
          <a:xfrm>
            <a:off x="9491472" y="1691640"/>
            <a:ext cx="2029968" cy="2926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Step 5 number"/>
          <p:cNvSpPr txBox="1"/>
          <p:nvPr/>
        </p:nvSpPr>
        <p:spPr>
          <a:xfrm>
            <a:off x="9674352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22" name="Step 5 head"/>
          <p:cNvSpPr txBox="1"/>
          <p:nvPr/>
        </p:nvSpPr>
        <p:spPr>
          <a:xfrm>
            <a:off x="9674352" y="2514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Compare</a:t>
            </a:r>
            <a:endParaRPr lang="en-US" sz="1700" dirty="0"/>
          </a:p>
        </p:txBody>
      </p:sp>
      <p:sp>
        <p:nvSpPr>
          <p:cNvPr id="23" name="Step 5 text"/>
          <p:cNvSpPr txBox="1"/>
          <p:nvPr/>
        </p:nvSpPr>
        <p:spPr>
          <a:xfrm>
            <a:off x="9674352" y="29718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Baselines, fine-tuned model and published results in one table</a:t>
            </a:r>
            <a:endParaRPr lang="en-US" sz="1400" dirty="0"/>
          </a:p>
        </p:txBody>
      </p:sp>
      <p:sp>
        <p:nvSpPr>
          <p:cNvPr id="24" name="Method note"/>
          <p:cNvSpPr txBox="1"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Qwen2-VL-2B-Instruct (open source). Fine-tuning with LoRA / QLoRA so that it fits a free Google Colab T4 GPU.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Progress So Far</a:t>
            </a:r>
            <a:endParaRPr lang="en-US" sz="3000" dirty="0"/>
          </a:p>
        </p:txBody>
      </p:sp>
      <p:sp>
        <p:nvSpPr>
          <p:cNvPr id="3" name="Done head"/>
          <p:cNvSpPr txBox="1"/>
          <p:nvPr/>
        </p:nvSpPr>
        <p:spPr>
          <a:xfrm>
            <a:off x="777240" y="1325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Completed</a:t>
            </a:r>
            <a:endParaRPr lang="en-US" sz="1600" dirty="0"/>
          </a:p>
        </p:txBody>
      </p:sp>
      <p:sp>
        <p:nvSpPr>
          <p:cNvPr id="4" name="Done list"/>
          <p:cNvSpPr txBox="1"/>
          <p:nvPr/>
        </p:nvSpPr>
        <p:spPr>
          <a:xfrm>
            <a:off x="777240" y="1783080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pipeline: data loading, model inference, per-rule evaluation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downloaded and checked against the paper's violation counts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analysis notebook: attributes, image sizes, boxes, quality checks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1: long prompt (observation, then verdict) on all 3,004 test images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2: short Yes/No prompt on all 3,004 test images</a:t>
            </a:r>
            <a:endParaRPr lang="en-US" sz="1600" dirty="0"/>
          </a:p>
        </p:txBody>
      </p:sp>
      <p:sp>
        <p:nvSpPr>
          <p:cNvPr id="5" name="In progress panel"/>
          <p:cNvSpPr/>
          <p:nvPr/>
        </p:nvSpPr>
        <p:spPr>
          <a:xfrm>
            <a:off x="7223760" y="1325880"/>
            <a:ext cx="4297680" cy="3108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Next head"/>
          <p:cNvSpPr txBox="1"/>
          <p:nvPr/>
        </p:nvSpPr>
        <p:spPr>
          <a:xfrm>
            <a:off x="745236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 progress</a:t>
            </a:r>
            <a:endParaRPr lang="en-US" sz="1600" dirty="0"/>
          </a:p>
        </p:txBody>
      </p:sp>
      <p:sp>
        <p:nvSpPr>
          <p:cNvPr id="7" name="Next list"/>
          <p:cNvSpPr txBox="1"/>
          <p:nvPr/>
        </p:nvSpPr>
        <p:spPr>
          <a:xfrm>
            <a:off x="7452360" y="19202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 script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 held out from train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metric for the rare rules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Baseline Results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Pretrained Qwen2-VL-2B, no training, all 3,004 test images · precision / recall</a:t>
            </a:r>
            <a:endParaRPr lang="en-US" sz="1500" dirty="0"/>
          </a:p>
        </p:txBody>
      </p:sp>
      <p:graphicFrame>
        <p:nvGraphicFramePr>
          <p:cNvPr id="16" name="Baselin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766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46304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prompt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Yes/No prompt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PPE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 / 8.3%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 / 46.0%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Harness at height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 / 56.0%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 / 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Edge protection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 / 9.5%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2.2% / 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Excavator blind spot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 / 91.7%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1.1% / 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Findings panel"/>
          <p:cNvSpPr/>
          <p:nvPr/>
        </p:nvSpPr>
        <p:spPr>
          <a:xfrm>
            <a:off x="7772400" y="1645920"/>
            <a:ext cx="3749040" cy="32918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Findings head"/>
          <p:cNvSpPr txBox="1"/>
          <p:nvPr/>
        </p:nvSpPr>
        <p:spPr>
          <a:xfrm>
            <a:off x="800100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Findings</a:t>
            </a:r>
            <a:endParaRPr lang="en-US" sz="1600" dirty="0"/>
          </a:p>
        </p:txBody>
      </p:sp>
      <p:sp>
        <p:nvSpPr>
          <p:cNvPr id="7" name="Findings list"/>
          <p:cNvSpPr txBox="1"/>
          <p:nvPr/>
        </p:nvSpPr>
        <p:spPr>
          <a:xfrm>
            <a:off x="8001000" y="2240280"/>
            <a:ext cx="3337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PPE beats chance: precision 27.2% against a 10.8% violation rate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2–4: precision equals the violation rate, so no real skill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prompt answers “Yes” to 74–95% of images on rules 2–4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 the full test set is far below the 100-image thesis result</a:t>
            </a:r>
            <a:endParaRPr lang="en-US" sz="1400" dirty="0"/>
          </a:p>
        </p:txBody>
      </p:sp>
      <p:sp>
        <p:nvSpPr>
          <p:cNvPr id="8" name="Note"/>
          <p:cNvSpPr txBox="1"/>
          <p:nvPr/>
        </p:nvSpPr>
        <p:spPr>
          <a:xfrm>
            <a:off x="640080" y="6172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Violation rate = share of test images with that violation, which is also the precision of random guessing. Model run in fp16.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945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377440" y="23774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Novelty and Plan of Work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Proposed Novelty</a:t>
            </a:r>
            <a:endParaRPr lang="en-US" sz="3000" dirty="0"/>
          </a:p>
        </p:txBody>
      </p:sp>
      <p:graphicFrame>
        <p:nvGraphicFramePr>
          <p:cNvPr id="18" name="Novel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937760"/>
                <a:gridCol w="30175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VLM on ConstructionSite 10k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model trained on this benchmark, evaluated on the full test set against published and our own baselines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prior fine-tuning found; Scopus search to be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each violation: the hazard, its severity and a corrective 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overlap with Adil et al.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regulation grounding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violation linked to OSHA (US) and Indian OSH Code / BOCW rules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Planned, step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Objectives</a:t>
            </a:r>
            <a:endParaRPr lang="en-US" sz="3000" dirty="0"/>
          </a:p>
        </p:txBody>
      </p:sp>
      <p:sp>
        <p:nvSpPr>
          <p:cNvPr id="3" name="Objectives list"/>
          <p:cNvSpPr txBox="1"/>
          <p:nvPr/>
        </p:nvSpPr>
        <p:spPr>
          <a:xfrm>
            <a:off x="777240" y="1371600"/>
            <a:ext cx="10607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an open vision–language model on ConstructionSite 10k and compare it with the published GPT-4V / LLaVA results and our own baselines.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false alarms: raise precision on each safety rule while keeping recall high.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structured output for every violation: the hazard, its severity and a corrective action.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each corrective action to a clause from OSHA 29 CFR 1926 or India’s OSH Code and BOCW rules.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precision, recall and F1 per rule, before and after fine-tuning.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Plan of Work</a:t>
            </a:r>
            <a:endParaRPr lang="en-US" sz="3000" dirty="0"/>
          </a:p>
        </p:txBody>
      </p:sp>
      <p:sp>
        <p:nvSpPr>
          <p:cNvPr id="3" name="Plan 1"/>
          <p:cNvSpPr/>
          <p:nvPr/>
        </p:nvSpPr>
        <p:spPr>
          <a:xfrm>
            <a:off x="640080" y="1371600"/>
            <a:ext cx="3474720" cy="36576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Plan 1 head"/>
          <p:cNvSpPr txBox="1"/>
          <p:nvPr/>
        </p:nvSpPr>
        <p:spPr>
          <a:xfrm>
            <a:off x="868680" y="1508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</a:t>
            </a:r>
            <a:endParaRPr lang="en-US" sz="12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</a:t>
            </a:r>
            <a:endParaRPr lang="en-US" sz="1200" dirty="0"/>
          </a:p>
        </p:txBody>
      </p:sp>
      <p:sp>
        <p:nvSpPr>
          <p:cNvPr id="5" name="Plan 1 points"/>
          <p:cNvSpPr txBox="1"/>
          <p:nvPr/>
        </p:nvSpPr>
        <p:spPr>
          <a:xfrm>
            <a:off x="868680" y="24688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fine-tuning of Qwen2-VL-2B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sampling of the rare rules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 for choosing thresholds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 and average precision per rule</a:t>
            </a:r>
            <a:endParaRPr lang="en-US" sz="1500" dirty="0"/>
          </a:p>
        </p:txBody>
      </p:sp>
      <p:sp>
        <p:nvSpPr>
          <p:cNvPr id="6" name="Plan 2"/>
          <p:cNvSpPr/>
          <p:nvPr/>
        </p:nvSpPr>
        <p:spPr>
          <a:xfrm>
            <a:off x="4297680" y="1371600"/>
            <a:ext cx="3474720" cy="36576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Plan 2 head"/>
          <p:cNvSpPr txBox="1"/>
          <p:nvPr/>
        </p:nvSpPr>
        <p:spPr>
          <a:xfrm>
            <a:off x="4526280" y="1508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THEN</a:t>
            </a:r>
            <a:endParaRPr lang="en-US" sz="12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outputs</a:t>
            </a:r>
            <a:endParaRPr lang="en-US" sz="1200" dirty="0"/>
          </a:p>
        </p:txBody>
      </p:sp>
      <p:sp>
        <p:nvSpPr>
          <p:cNvPr id="8" name="Plan 2 points"/>
          <p:cNvSpPr txBox="1"/>
          <p:nvPr/>
        </p:nvSpPr>
        <p:spPr>
          <a:xfrm>
            <a:off x="4526280" y="24688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and corrective-action labels on violation images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and re-evaluate</a:t>
            </a:r>
            <a:endParaRPr lang="en-US" sz="1500" dirty="0"/>
          </a:p>
        </p:txBody>
      </p:sp>
      <p:sp>
        <p:nvSpPr>
          <p:cNvPr id="9" name="Plan 3"/>
          <p:cNvSpPr/>
          <p:nvPr/>
        </p:nvSpPr>
        <p:spPr>
          <a:xfrm>
            <a:off x="7955280" y="1371600"/>
            <a:ext cx="3474720" cy="36576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Plan 3 head"/>
          <p:cNvSpPr txBox="1"/>
          <p:nvPr/>
        </p:nvSpPr>
        <p:spPr>
          <a:xfrm>
            <a:off x="8183880" y="1508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FINALLY</a:t>
            </a:r>
            <a:endParaRPr lang="en-US" sz="12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and compare</a:t>
            </a:r>
            <a:endParaRPr lang="en-US" sz="1200" dirty="0"/>
          </a:p>
        </p:txBody>
      </p:sp>
      <p:sp>
        <p:nvSpPr>
          <p:cNvPr id="11" name="Plan 3 points"/>
          <p:cNvSpPr txBox="1"/>
          <p:nvPr/>
        </p:nvSpPr>
        <p:spPr>
          <a:xfrm>
            <a:off x="8183880" y="24688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violation to OSHA and Indian rules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table: baselines, fine-tuned model, published results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3" name="References list"/>
          <p:cNvSpPr txBox="1"/>
          <p:nvPr/>
        </p:nvSpPr>
        <p:spPr>
          <a:xfrm>
            <a:off x="777240" y="1280160"/>
            <a:ext cx="106070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X. &amp; Zou, Z. (2026). Are large pre-trained vision language models effective construction safety inspectors? Data-Centric Engineering, 7, e11.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Sahraoui, I. (2025). Automated hazard detection in construction sites using large language and vision-language models. MSc thesis, University of Houston. arXiv:2511.15720.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Adil, M., Lee, G., Gonzalez, V. A. &amp; Mei, Q. (2025). Using vision language models for safety hazard identification in construction. arXiv:2504.09083.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H. et al. (2024). Augmented reality, deep learning and vision-language query system for construction worker safety. Automation in Construction.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Fan, C. et al. (2024). Assisting in the identification of ergonomic risks for workers: a large vision-language model approach. ISARC 2024.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Alshikhe, R.R. et al. (2026). Vision Transformers-integrated construction site monitoring system. IEEE GSEACT.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Y. et al. (2026). Construction site fall hazard identification and automated captioning. Automation in Construction.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Hussain, R. et al. (2026). Vision-language model-based intelligent assistant for onsite construction. Automation in Construction.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Labour Organization (2023). Nearly 3 million people die of work-related accidents and diseases. News release, 26 Nov 2023.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Labour Organization (2015). Construction: a hazardous work.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Bureau of Labor Statistics (2026). Census of Fatal Occupational Injuries, 2024. News release, 19 Feb 2026; industry table 2024.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Safety Executive (2026). Work-related fatal injuries in Great Britain, 2025/26 (provisional).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Safety Council India (2022). Construction in India: a dangerous business. 7 Oct 2022.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of India (2017). 48,000 die due to occupational accidents yearly: study (British Safety Council). 20 Nov 2017.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Patel, D.A. &amp; Jha, K.N. (2016). An estimate of fatal accidents in Indian construction. ARCOM Conference.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Questions and suggestions are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ference Style">
  <a:themeElements>
    <a:clrScheme name="Reference Style">
      <a:dk1>
        <a:srgbClr val="2B2B2B"/>
      </a:dk1>
      <a:lt1>
        <a:srgbClr val="FFFFFF"/>
      </a:lt1>
      <a:dk2>
        <a:srgbClr val="2B2B2B"/>
      </a:dk2>
      <a:lt2>
        <a:srgbClr val="F2F2F2"/>
      </a:lt2>
      <a:accent1>
        <a:srgbClr val="D35400"/>
      </a:accent1>
      <a:accent2>
        <a:srgbClr val="E8A87C"/>
      </a:accent2>
      <a:accent3>
        <a:srgbClr val="595959"/>
      </a:accent3>
      <a:accent4>
        <a:srgbClr val="BFBFBF"/>
      </a:accent4>
      <a:accent5>
        <a:srgbClr val="D9D9D9"/>
      </a:accent5>
      <a:accent6>
        <a:srgbClr val="7F7F7F"/>
      </a:accent6>
      <a:hlink>
        <a:srgbClr val="1F4E79"/>
      </a:hlink>
      <a:folHlink>
        <a:srgbClr val="5B4A8B"/>
      </a:folHlink>
    </a:clrScheme>
    <a:fontScheme name="Reference Styl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Domain-Specific VLM for Construction Site Safety Inspection</dc:title>
  <dc:subject>PptxGenJS Presentation</dc:subject>
  <dc:creator>Mayank Sali</dc:creator>
  <cp:lastModifiedBy>Mayank Sali</cp:lastModifiedBy>
  <cp:revision>1</cp:revision>
  <dcterms:created xsi:type="dcterms:W3CDTF">2026-10-10T16:47:41Z</dcterms:created>
  <dcterms:modified xsi:type="dcterms:W3CDTF">2026-10-10T16:47:41Z</dcterms:modified>
</cp:coreProperties>
</file>